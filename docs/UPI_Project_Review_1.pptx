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7" r:id="rId3"/>
    <p:sldId id="258" r:id="rId4"/>
    <p:sldId id="259" r:id="rId5"/>
    <p:sldId id="260" r:id="rId20"/>
    <p:sldId id="261" r:id="rId6"/>
    <p:sldId id="262" r:id="rId7"/>
    <p:sldId id="263" r:id="rId21"/>
    <p:sldId id="264" r:id="rId22"/>
    <p:sldId id="265" r:id="rId8"/>
    <p:sldId id="266" r:id="rId9"/>
    <p:sldId id="267" r:id="rId10"/>
    <p:sldId id="268" r:id="rId11"/>
    <p:sldId id="269" r:id="rId12"/>
    <p:sldId id="270" r:id="rId13"/>
    <p:sldId id="271" r:id="rId23"/>
    <p:sldId id="272" r:id="rId24"/>
    <p:sldId id="273" r:id="rId27"/>
    <p:sldId id="274" r:id="rId25"/>
    <p:sldId id="275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10.xml"/><Relationship Id="rId9" Type="http://schemas.openxmlformats.org/officeDocument/2006/relationships/slide" Target="slides/slide11.xml"/><Relationship Id="rId10" Type="http://schemas.openxmlformats.org/officeDocument/2006/relationships/slide" Target="slides/slide12.xml"/><Relationship Id="rId11" Type="http://schemas.openxmlformats.org/officeDocument/2006/relationships/slide" Target="slides/slide13.xml"/><Relationship Id="rId12" Type="http://schemas.openxmlformats.org/officeDocument/2006/relationships/slide" Target="slides/slide14.xml"/><Relationship Id="rId13" Type="http://schemas.openxmlformats.org/officeDocument/2006/relationships/slide" Target="slides/slide15.xml"/><Relationship Id="rId14" Type="http://schemas.openxmlformats.org/officeDocument/2006/relationships/notesMaster" Target="notesMasters/notesMaster1.xml"/><Relationship Id="rId15" Type="http://schemas.openxmlformats.org/officeDocument/2006/relationships/handoutMaster" Target="handoutMasters/handout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5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1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Department of information Technology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4CF1D-66E7-4B47-81B8-348769E3D01D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970A76-D8CC-442C-BA9C-C9D7B30CE7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2263283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Department of information Technology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6A903A-DCEF-4232-B64F-56CC081A85E7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2A9EA9-E532-478A-9241-4B508CD9CE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6906032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Department of information Technology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A9EA9-E532-478A-9241-4B508CD9CE32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94981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8ECF9-1E61-738A-387D-762583122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30B690-C4C5-91B5-1EFC-29AB3FF00A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EBB92F-649E-6525-AD74-4AE8D3D5D3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E225741A-7379-59BE-CA0C-1F498EEC40F4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Department of information Technology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87C159-EDF9-1C04-4B50-A3A3832405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A9EA9-E532-478A-9241-4B508CD9CE32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57919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865DA-ECA5-D8B4-15D2-C5B2924D2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6E3161-48D1-5E85-EDF9-A287BC24D0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079850-8C43-F7CC-FD5C-ADF0610B87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8A0826B6-542C-24B7-4AF3-02B40EC1AFD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Department of information Technology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745C6D-1EFC-F8C2-A18D-904F70770F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A9EA9-E532-478A-9241-4B508CD9CE3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927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B04C7-D4BC-392D-35F6-AC31E7812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C83592-E60C-9A26-F7FA-3FA58F8AD2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3E68A6-73C3-EA4D-F745-588B6D8ED1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AE9C90FC-C31D-39B0-F459-53FE4D854834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Department of information Technology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D80A5A-215F-9BA2-7C19-134E344589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A9EA9-E532-478A-9241-4B508CD9CE32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02425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CCED2-C50D-C563-C309-BF0CA800D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BDCA10-8CB7-5CC8-9943-22DDA41270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9B9E8C-7066-D7C4-BBDC-AD96B74008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FCC5DA6F-3FDA-789A-B421-F4D892DBA18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Department of information Technology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EDDCB5-EB08-41D5-DA2B-3E9967CFC1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A9EA9-E532-478A-9241-4B508CD9CE32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28868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242E1-7DC7-3F7C-4057-F30B2047B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42741D-F59B-51BA-0843-B66DE201A8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261E38-1D8D-7391-68D8-B1F6CF9268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96E37D05-6525-6437-0A8C-39505FFCAFFA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Department of information Technology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2719F1-D7A7-2E51-1DF8-9C47D196C1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A9EA9-E532-478A-9241-4B508CD9CE32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50629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13DC9-C403-F2BB-714E-4D8B3FEAF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DF81ED-AD16-9B74-17E4-3198BCD924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98C15E-E645-A3A9-E0F3-FD89C3A749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750259F2-694D-2E78-B83B-2DCB078918FE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Department of information Technology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75A33B-FCB3-84F1-27C1-ECC9FE49F1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A9EA9-E532-478A-9241-4B508CD9CE32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18521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7EF13-BE83-9090-C60D-2E132AA24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ABAC3C-0D9B-0F02-9CD2-40F2F75AB6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C6CE3F-9FA8-3B0B-91A2-9E4B66C930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7B8AD167-F1D2-EF1F-3F11-2EAFDDB2F3F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Department of information Technology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986B7B-D85E-952C-41A4-79E5B5F8FF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A9EA9-E532-478A-9241-4B508CD9CE32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39186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261CF-56CB-64F2-9C3D-2884C1AAB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8B497E-0893-69B9-A6DD-93590D5EC4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CC8BE3-A923-6F83-857E-4B09FBA9EC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137891D6-4D80-726F-6853-0863ED9ED4F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Department of information Technology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6E7257-1488-0CCE-87C6-ACACFBD4B0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A9EA9-E532-478A-9241-4B508CD9CE32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15146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6135B-6F0F-B9C4-C781-3843ADE67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03F686-4853-35B9-D505-CFF1D75359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BEDFFF-7B09-3817-F942-B5CDE80488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DFE1BF63-7486-2D33-30ED-48F5434368FE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Department of information Technology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3A5B1F-3290-2A5A-DF37-AFB36F29DA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A9EA9-E532-478A-9241-4B508CD9CE32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35467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91278-233B-2DEE-94B5-9448DAFA6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0B0C15-FA1E-D2B5-17AC-4455F5FB4A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25664E-69D9-7D98-483B-3D061A1FD3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3DE2049B-E4D4-5E4F-C6F2-7D96BAB975FE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Department of information Technology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714BD5-CBA3-E4AF-65C6-AED20EE705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A9EA9-E532-478A-9241-4B508CD9CE32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26379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506CD-A7E6-9DEA-D023-352870361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53035C-9FD9-981E-4C46-EB12F22CF6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3D02B0-24FA-0167-6B30-39F036B4F0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D403581B-8C80-6B16-625B-3E8FDC235872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Department of information Technology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86C8DC-FF92-4C3F-2331-56952DB359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A9EA9-E532-478A-9241-4B508CD9CE32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443631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2FF5D-1702-4744-9269-FDA2036CB7E5}" type="datetime1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208B-8553-4B8F-9A3D-7198B9689A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0754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FC34B-7AB2-4019-9602-DD2D190D5FCB}" type="datetime1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208B-8553-4B8F-9A3D-7198B9689A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6006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0174B-16CB-4412-8CCF-88F72DA9FD5A}" type="datetime1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208B-8553-4B8F-9A3D-7198B9689A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6589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63467-DF90-475D-903F-7DAEC5415DB5}" type="datetime1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208B-8553-4B8F-9A3D-7198B9689A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0211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D2E48-2055-4F43-98B6-8DE551E7C73E}" type="datetime1">
              <a:rPr lang="en-IN" smtClean="0"/>
              <a:t>18-09-2026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208B-8553-4B8F-9A3D-7198B9689A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0922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6DFB7-F168-4E17-91E0-76282584DAF6}" type="datetime1">
              <a:rPr lang="en-IN" smtClean="0"/>
              <a:t>18-09-2026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208B-8553-4B8F-9A3D-7198B9689A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0413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AA03F-AF98-49D0-8907-05B21E0AEA57}" type="datetime1">
              <a:rPr lang="en-IN" smtClean="0"/>
              <a:t>18-09-2026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208B-8553-4B8F-9A3D-7198B9689A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9174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23DB2-C4CA-4021-961C-92E782A41CA5}" type="datetime1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208B-8553-4B8F-9A3D-7198B9689A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4122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13D05-80CD-4D9F-9749-007C8A24C0D8}" type="datetime1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208B-8553-4B8F-9A3D-7198B9689A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581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0B8FA-5292-4854-9897-939EADCEA632}" type="datetime1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208B-8553-4B8F-9A3D-7198B9689A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7709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17048-79A0-402A-944C-95DF2D198C85}" type="datetime1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208B-8553-4B8F-9A3D-7198B9689A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741786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5CDBB2-1863-4035-BF32-4F4CDC75A4E1}" type="datetime1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B208B-8553-4B8F-9A3D-7198B9689A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8391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6598" y="1512364"/>
            <a:ext cx="11252200" cy="1160585"/>
          </a:xfrm>
        </p:spPr>
        <p:txBody>
          <a:bodyPr>
            <a:noAutofit/>
          </a:bodyPr>
          <a:lstStyle/>
          <a:p>
            <a:pPr algn="just"/>
            <a:r>
              <a:rPr lang="en-IN" sz="3200" b="1" dirty="0">
                <a:latin typeface="+mn-lt"/>
                <a:cs typeface="Times New Roman" panose="02020603050405020304" pitchFamily="18" charset="0"/>
              </a:rPr>
              <a:t>GRAPH-BASED REAL-TIME UPI FRAUD DETECTION AND SCAM LINK / QR IDENTIFIER SYSTEM USING AI AND ML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30977" y="3051966"/>
            <a:ext cx="9144000" cy="191861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Batch No: &lt;  &gt;</a:t>
            </a:r>
          </a:p>
          <a:p>
            <a:r>
              <a:rPr lang="en-US" dirty="0"/>
              <a:t>&lt;Register No.&gt;</a:t>
            </a:r>
          </a:p>
          <a:p>
            <a:r>
              <a:rPr lang="en-US" dirty="0"/>
              <a:t>&lt;Register No.&gt;</a:t>
            </a:r>
          </a:p>
          <a:p>
            <a:r>
              <a:rPr lang="en-US" dirty="0"/>
              <a:t>&lt;Register No.&gt;</a:t>
            </a:r>
          </a:p>
          <a:p>
            <a:r>
              <a:rPr lang="en-US" dirty="0"/>
              <a:t>&lt;Register No.&gt;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54369" y="4970585"/>
            <a:ext cx="541606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Guide Details: </a:t>
            </a:r>
          </a:p>
          <a:p>
            <a:r>
              <a:rPr lang="en-US" sz="2200" dirty="0"/>
              <a:t>&lt;Project Supervisor&gt;</a:t>
            </a:r>
          </a:p>
          <a:p>
            <a:r>
              <a:rPr lang="en-US" sz="2200" dirty="0"/>
              <a:t>&lt;Designation&gt;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208B-8553-4B8F-9A3D-7198B9689A71}" type="slidenum">
              <a:rPr lang="en-IN" smtClean="0"/>
              <a:t>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cs typeface="Times New Roman" panose="02020603050405020304" pitchFamily="18" charset="0"/>
              </a:rPr>
              <a:t>Department of Information Technology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84" y="83465"/>
            <a:ext cx="1160585" cy="116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147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9060A-8E66-A9FA-C225-0F7FD8900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445C62-2863-807B-9612-5506B5AC0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208B-8553-4B8F-9A3D-7198B9689A71}" type="slidenum">
              <a:rPr lang="en-IN" smtClean="0"/>
              <a:t>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49AF3E-D5CA-ACC9-F197-C8E7E4780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cs typeface="Times New Roman" panose="02020603050405020304" pitchFamily="18" charset="0"/>
              </a:rPr>
              <a:t>Department of Information Technology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2EA2EB-95F3-B74E-FE4B-A37AF2CAB7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84" y="83465"/>
            <a:ext cx="1160585" cy="116058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23533E6-752C-BF2E-EC56-3FBDFA046DC0}"/>
              </a:ext>
            </a:extLst>
          </p:cNvPr>
          <p:cNvSpPr txBox="1">
            <a:spLocks/>
          </p:cNvSpPr>
          <p:nvPr/>
        </p:nvSpPr>
        <p:spPr>
          <a:xfrm>
            <a:off x="1430977" y="365767"/>
            <a:ext cx="10667239" cy="59598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IN" sz="4000" b="1" dirty="0">
                <a:latin typeface="+mn-lt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2E7F72-992A-6D23-4DB2-D556C8592392}"/>
              </a:ext>
            </a:extLst>
          </p:cNvPr>
          <p:cNvSpPr txBox="1"/>
          <p:nvPr/>
        </p:nvSpPr>
        <p:spPr>
          <a:xfrm>
            <a:off x="1263070" y="1502476"/>
            <a:ext cx="978098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/>
              <a:t>Abstract</a:t>
            </a:r>
          </a:p>
          <a:p>
            <a:pPr algn="just"/>
            <a:r>
              <a:rPr lang="en-US" sz="2200" dirty="0"/>
              <a:t>Introduction</a:t>
            </a:r>
          </a:p>
          <a:p>
            <a:pPr algn="just"/>
            <a:r>
              <a:rPr lang="en-US" sz="2200" dirty="0"/>
              <a:t>Literature Survey</a:t>
            </a:r>
          </a:p>
          <a:p>
            <a:pPr algn="just"/>
            <a:r>
              <a:rPr lang="en-US" sz="2200" dirty="0"/>
              <a:t>Research Gaps</a:t>
            </a:r>
          </a:p>
          <a:p>
            <a:pPr algn="just"/>
            <a:r>
              <a:rPr lang="en-US" sz="2200" dirty="0"/>
              <a:t>Objectives</a:t>
            </a:r>
          </a:p>
          <a:p>
            <a:pPr algn="just"/>
            <a:r>
              <a:rPr lang="en-US" sz="2200" dirty="0"/>
              <a:t>Methodology</a:t>
            </a:r>
          </a:p>
          <a:p>
            <a:pPr algn="just"/>
            <a:r>
              <a:rPr lang="en-US" sz="2200" dirty="0"/>
              <a:t>Architecture (Explain the modules in detail)</a:t>
            </a:r>
          </a:p>
          <a:p>
            <a:pPr algn="just"/>
            <a:r>
              <a:rPr lang="en-US" sz="2200" dirty="0"/>
              <a:t>Results</a:t>
            </a:r>
          </a:p>
          <a:p>
            <a:pPr algn="just"/>
            <a:r>
              <a:rPr lang="en-US" sz="2200" dirty="0"/>
              <a:t>Conclusion &amp; Future Scope</a:t>
            </a:r>
          </a:p>
          <a:p>
            <a:pPr algn="just"/>
            <a:r>
              <a:rPr lang="en-US" sz="2200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1087704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1AF18-76AA-FD2D-673F-0269C5F0E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FABE37-6D1E-3AA3-F90A-81B92019E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208B-8553-4B8F-9A3D-7198B9689A71}" type="slidenum">
              <a:rPr lang="en-IN" smtClean="0"/>
              <a:t>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683D72-E2E2-AEE0-EE93-ECAB50FFD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cs typeface="Times New Roman" panose="02020603050405020304" pitchFamily="18" charset="0"/>
              </a:rPr>
              <a:t>Department of Information Technology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324FC7-57CC-197D-A13D-8AA362C0D8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84" y="83465"/>
            <a:ext cx="1160585" cy="116058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4D0DF7DF-B0C4-AE29-4759-11CFFB4A81D8}"/>
              </a:ext>
            </a:extLst>
          </p:cNvPr>
          <p:cNvSpPr txBox="1">
            <a:spLocks/>
          </p:cNvSpPr>
          <p:nvPr/>
        </p:nvSpPr>
        <p:spPr>
          <a:xfrm>
            <a:off x="1430977" y="365767"/>
            <a:ext cx="10667239" cy="59598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IN" sz="4000" b="1" dirty="0">
                <a:latin typeface="+mn-lt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AE3958-610D-39D7-B1C9-28842960455E}"/>
              </a:ext>
            </a:extLst>
          </p:cNvPr>
          <p:cNvSpPr txBox="1"/>
          <p:nvPr/>
        </p:nvSpPr>
        <p:spPr>
          <a:xfrm>
            <a:off x="1263070" y="1502476"/>
            <a:ext cx="9780982" cy="4480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800" dirty="0"/>
              <a:t>UPI settled 24.51 billion payments worth Rs 29.82 trillion in August 2026. A UPI payment is irrevocable, so a system that classifies stored transactions describes a loss that has already happened; and in the dominant Indian fraud pattern the account holder authorises the payment themselves, so nothing about the payer's behaviour is anomalous.</a:t>
            </a:r>
          </a:p>
          <a:p>
            <a:pPr algn="just"/>
            <a:r>
              <a:rPr lang="en-US" sz="1800" dirty="0"/>
              <a:t>This project assesses a payee BEFORE money moves. A scanned QR code, a pasted UPI ID or a phone number is scored by ten independent evidence families - address integrity, payee reputation, payer behaviour, relationship, amount, stated purpose, message pressure, link safety, a calibrated classifier and the payee's position in an incrementally maintained payment graph.</a:t>
            </a:r>
          </a:p>
          <a:p>
            <a:pPr algn="just"/>
            <a:r>
              <a:rPr lang="en-US" sz="1800" dirty="0"/>
              <a:t>Missing evidence is never treated as favourable evidence. Every assessment publishes a risk score, a confidence score from evidence coverage, and one verdict: APPROVE, WARN, STEP_UP or BLOCK.</a:t>
            </a:r>
          </a:p>
          <a:p>
            <a:pPr algn="just"/>
            <a:r>
              <a:rPr lang="en-US" sz="1800" dirty="0"/>
              <a:t>On a 120,000-row simulator the calibrated model reaches PR-AUC 0.486 and 49.3% recall at a 0.95% false-positive rate. The data is simulated and the system holds no NPCI, PSP or banking integration.</a:t>
            </a:r>
          </a:p>
        </p:txBody>
      </p:sp>
    </p:spTree>
    <p:extLst>
      <p:ext uri="{BB962C8B-B14F-4D97-AF65-F5344CB8AC3E}">
        <p14:creationId xmlns:p14="http://schemas.microsoft.com/office/powerpoint/2010/main" val="374404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DBF50-E13E-366B-B3E6-BD463C81F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518016-03C0-27F7-7C13-B45F27FF0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208B-8553-4B8F-9A3D-7198B9689A71}" type="slidenum">
              <a:rPr lang="en-IN" smtClean="0"/>
              <a:t>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F7DF20-5255-01F5-42C1-3C058DBA1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cs typeface="Times New Roman" panose="02020603050405020304" pitchFamily="18" charset="0"/>
              </a:rPr>
              <a:t>Department of Information Technology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793F36-CC9E-B936-5712-DA58F23B66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84" y="83465"/>
            <a:ext cx="1160585" cy="116058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481E610F-AB27-AF93-82B0-1A1C7B2E608B}"/>
              </a:ext>
            </a:extLst>
          </p:cNvPr>
          <p:cNvSpPr txBox="1">
            <a:spLocks/>
          </p:cNvSpPr>
          <p:nvPr/>
        </p:nvSpPr>
        <p:spPr>
          <a:xfrm>
            <a:off x="1430977" y="365767"/>
            <a:ext cx="10667239" cy="59598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IN" sz="4000" b="1" dirty="0">
                <a:latin typeface="+mn-lt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4CBC1D-B355-A5E5-672F-ED2415821E32}"/>
              </a:ext>
            </a:extLst>
          </p:cNvPr>
          <p:cNvSpPr txBox="1"/>
          <p:nvPr/>
        </p:nvSpPr>
        <p:spPr>
          <a:xfrm>
            <a:off x="1263070" y="1502476"/>
            <a:ext cx="9780982" cy="4754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UPI carries 24.51 billion payments a month - 791 million a day - and settles them in seconds.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A UPI transfer is irrevocable. There is no chargeback: once the payer approves, recovery depends on freezing an account that is usually already empty.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Most reported UPI fraud in India is authorised by the victim: a fake customer-care call, a refund that needs a fee first, a QR code presented as a way to receive money.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Detection after settlement therefore describes losses instead of preventing them.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Modelling only the payer cannot see an authorised payment - the payer is behaving normally by definition, at an ordinary hour, on their own device.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What is left to examine is the counterparty: who is being paid, what is known about that address, and what arrived alongside the request.</a:t>
            </a:r>
          </a:p>
        </p:txBody>
      </p:sp>
    </p:spTree>
    <p:extLst>
      <p:ext uri="{BB962C8B-B14F-4D97-AF65-F5344CB8AC3E}">
        <p14:creationId xmlns:p14="http://schemas.microsoft.com/office/powerpoint/2010/main" val="2780917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DBF50-E13E-366B-B3E6-BD463C81F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518016-03C0-27F7-7C13-B45F27FF0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208B-8553-4B8F-9A3D-7198B9689A71}" type="slidenum">
              <a:rPr lang="en-IN" smtClean="0"/>
              <a:t>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F7DF20-5255-01F5-42C1-3C058DBA1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cs typeface="Times New Roman" panose="02020603050405020304" pitchFamily="18" charset="0"/>
              </a:rPr>
              <a:t>Department of Information Technology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793F36-CC9E-B936-5712-DA58F23B66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84" y="83465"/>
            <a:ext cx="1160585" cy="116058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481E610F-AB27-AF93-82B0-1A1C7B2E608B}"/>
              </a:ext>
            </a:extLst>
          </p:cNvPr>
          <p:cNvSpPr txBox="1">
            <a:spLocks/>
          </p:cNvSpPr>
          <p:nvPr/>
        </p:nvSpPr>
        <p:spPr>
          <a:xfrm>
            <a:off x="1430977" y="365767"/>
            <a:ext cx="10667239" cy="59598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IN" sz="4000" b="1" dirty="0">
                <a:latin typeface="+mn-lt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4CBC1D-B355-A5E5-672F-ED2415821E32}"/>
              </a:ext>
            </a:extLst>
          </p:cNvPr>
          <p:cNvSpPr txBox="1"/>
          <p:nvPr/>
        </p:nvSpPr>
        <p:spPr>
          <a:xfrm>
            <a:off x="1263070" y="1502476"/>
            <a:ext cx="9780982" cy="4754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/>
              <a:t>What the system does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Scores a payee address before any money moves, within a few hundred milliseconds, using ten independent evidence families.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Distinguishes four states of knowledge - UNKNOWN, OBSERVED, REGISTERED and VERIFIED - and never claims a verification it did not perform.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Reports two numbers, not one: how bad the available evidence looks, and how much evidence there was.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Reads a QR from the camera or an uploaded image, checks scam links, look-alike bank handles and Unicode confusables, and scores coercive framing in the message.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Delivered as a React web application, an Express and FastAPI service, one SQLite store and a Capacitor Android build - 581 automated tests.</a:t>
            </a:r>
          </a:p>
        </p:txBody>
      </p:sp>
    </p:spTree>
    <p:extLst>
      <p:ext uri="{BB962C8B-B14F-4D97-AF65-F5344CB8AC3E}">
        <p14:creationId xmlns:p14="http://schemas.microsoft.com/office/powerpoint/2010/main" val="2780917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9207B-9433-57B4-BC40-2B026B021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2828C8-BAE0-EADD-682A-B2396A0A4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208B-8553-4B8F-9A3D-7198B9689A71}" type="slidenum">
              <a:rPr lang="en-IN" smtClean="0"/>
              <a:t>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5E11FC-2000-1283-0D08-9B68FE4D2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cs typeface="Times New Roman" panose="02020603050405020304" pitchFamily="18" charset="0"/>
              </a:rPr>
              <a:t>Department of Information Technology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05DD80-885D-C908-2C12-7003FECE60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84" y="83465"/>
            <a:ext cx="1160585" cy="116058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172C1B3C-B0D9-2313-214A-1D87A8821737}"/>
              </a:ext>
            </a:extLst>
          </p:cNvPr>
          <p:cNvSpPr txBox="1">
            <a:spLocks/>
          </p:cNvSpPr>
          <p:nvPr/>
        </p:nvSpPr>
        <p:spPr>
          <a:xfrm>
            <a:off x="1430977" y="365767"/>
            <a:ext cx="10667239" cy="59598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IN" sz="4000" b="1" dirty="0">
                <a:latin typeface="+mn-lt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1ACCF6E-AD0C-C84A-06DB-184C70D027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3620774"/>
              </p:ext>
            </p:extLst>
          </p:nvPr>
        </p:nvGraphicFramePr>
        <p:xfrm>
          <a:off x="243687" y="1463040"/>
          <a:ext cx="11704320" cy="4937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60520">
                  <a:extLst>
                    <a:ext uri="{9D8B030D-6E8A-4147-A177-3AD203B41FA5}">
                      <a16:colId xmlns:a16="http://schemas.microsoft.com/office/drawing/2014/main" val="4017016701"/>
                    </a:ext>
                  </a:extLst>
                </a:gridCol>
                <a:gridCol w="3703320">
                  <a:extLst>
                    <a:ext uri="{9D8B030D-6E8A-4147-A177-3AD203B41FA5}">
                      <a16:colId xmlns:a16="http://schemas.microsoft.com/office/drawing/2014/main" val="3911789132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755298141"/>
                    </a:ext>
                  </a:extLst>
                </a:gridCol>
              </a:tblGrid>
              <a:tr h="141732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Research Paper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Method / Focus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Relevance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2212463"/>
                  </a:ext>
                </a:extLst>
              </a:tr>
              <a:tr h="141732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Lopez-Rojas, Elmir &amp; Axelsson, “PaySim: A Financial Mobile Money Simulator for Fraud Detection”, EMSS, 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Agent-based simulation of mobile-money transfers; fraud injected as agent behaviour rather than as a rule over features.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Our simulator follows the same principle - labels come from four fraud behaviours - and extends it by also modelling what the deployment cannot observe.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8862709"/>
                  </a:ext>
                </a:extLst>
              </a:tr>
              <a:tr h="141732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Weber et al., “Anti-Money Laundering in Bitcoin: Graph Convolutional Networks for Financial Forensics”, KDD Workshop, 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Elliptic transaction graph; logistic regression, random forest and GCN compared on illicit-node classification.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Confirms graph structure adds signal over local features, and that gradient boosting stays a strong baseline - which is what we use.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8862709"/>
                  </a:ext>
                </a:extLst>
              </a:tr>
              <a:tr h="141732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Hooi et al., “FRAUDAR: Bounding Graph Fraud in the Face of Camouflage”, ACM SIGKDD, 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Dense-subgraph detection on a bipartite payer-payee graph with provable bounds under camouflage.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Whole-graph and batch. Motivates our incremental union-find and per-payee cache, which answer in a lookup on the live path.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88627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0121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B514E-29FC-DD78-558C-5FC7D6101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795065-5644-8510-5FB3-1794D34AD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208B-8553-4B8F-9A3D-7198B9689A71}" type="slidenum">
              <a:rPr lang="en-IN" smtClean="0"/>
              <a:t>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410178-2A5A-D9CA-2A83-697A6CCE3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cs typeface="Times New Roman" panose="02020603050405020304" pitchFamily="18" charset="0"/>
              </a:rPr>
              <a:t>Department of Information Technology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C254A4-38A1-E5EF-C580-22960B8CE9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84" y="83465"/>
            <a:ext cx="1160585" cy="116058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8F40C54E-8715-93C0-792C-66EC412A16E7}"/>
              </a:ext>
            </a:extLst>
          </p:cNvPr>
          <p:cNvSpPr txBox="1">
            <a:spLocks/>
          </p:cNvSpPr>
          <p:nvPr/>
        </p:nvSpPr>
        <p:spPr>
          <a:xfrm>
            <a:off x="1430977" y="365767"/>
            <a:ext cx="10667239" cy="59598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IN" sz="4000" b="1" dirty="0">
                <a:latin typeface="+mn-lt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9AB979B-D9C1-C97A-77EB-5A2B1FE10E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0665203"/>
              </p:ext>
            </p:extLst>
          </p:nvPr>
        </p:nvGraphicFramePr>
        <p:xfrm>
          <a:off x="243687" y="1463040"/>
          <a:ext cx="11704320" cy="4937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60520">
                  <a:extLst>
                    <a:ext uri="{9D8B030D-6E8A-4147-A177-3AD203B41FA5}">
                      <a16:colId xmlns:a16="http://schemas.microsoft.com/office/drawing/2014/main" val="4017016701"/>
                    </a:ext>
                  </a:extLst>
                </a:gridCol>
                <a:gridCol w="3703320">
                  <a:extLst>
                    <a:ext uri="{9D8B030D-6E8A-4147-A177-3AD203B41FA5}">
                      <a16:colId xmlns:a16="http://schemas.microsoft.com/office/drawing/2014/main" val="3911789132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755298141"/>
                    </a:ext>
                  </a:extLst>
                </a:gridCol>
              </a:tblGrid>
              <a:tr h="141732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Research Paper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Method / Focus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Relevance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2212463"/>
                  </a:ext>
                </a:extLst>
              </a:tr>
              <a:tr h="141732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Dou et al., “Enhancing GNN-based Fraud Detectors against Camouflaged Fraudsters (CARE-GNN)”, ACM CIKM,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Label-aware neighbour sampling and reinforcement-learned neighbour selection on relation graphs.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Assumes node features are always present; our design treats an unobservable payee as a first-class state instead.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8862709"/>
                  </a:ext>
                </a:extLst>
              </a:tr>
              <a:tr h="141732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Liu, Ting &amp; Zhou, “Isolation Forest”, IEEE ICDM, 2008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Unsupervised anomaly detection by random isolation; linear time, low memory.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Used as our unsupervised second opinion, fitted on legitimate traffic only (ROC-AUC 0.854).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8862709"/>
                  </a:ext>
                </a:extLst>
              </a:tr>
              <a:tr h="141732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Ke et al., “LightGBM: A Highly Efficient Gradient Boosting Decision Tree”, NeurIPS, 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Histogram-based gradient boosting; native missing-value handling by learned default split directions.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We use histogram gradient boosting and reuse native NaN handling for a different purpose: representing evidence that could not be measured.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88627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07999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9207B-9433-57B4-BC40-2B026B021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2828C8-BAE0-EADD-682A-B2396A0A4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208B-8553-4B8F-9A3D-7198B9689A71}" type="slidenum">
              <a:rPr lang="en-IN" smtClean="0"/>
              <a:t>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5E11FC-2000-1283-0D08-9B68FE4D2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cs typeface="Times New Roman" panose="02020603050405020304" pitchFamily="18" charset="0"/>
              </a:rPr>
              <a:t>Department of Information Technology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05DD80-885D-C908-2C12-7003FECE60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84" y="83465"/>
            <a:ext cx="1160585" cy="116058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172C1B3C-B0D9-2313-214A-1D87A8821737}"/>
              </a:ext>
            </a:extLst>
          </p:cNvPr>
          <p:cNvSpPr txBox="1">
            <a:spLocks/>
          </p:cNvSpPr>
          <p:nvPr/>
        </p:nvSpPr>
        <p:spPr>
          <a:xfrm>
            <a:off x="1430977" y="365767"/>
            <a:ext cx="10667239" cy="59598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IN" sz="4000" b="1" dirty="0">
                <a:latin typeface="+mn-lt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1ACCF6E-AD0C-C84A-06DB-184C70D027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3620774"/>
              </p:ext>
            </p:extLst>
          </p:nvPr>
        </p:nvGraphicFramePr>
        <p:xfrm>
          <a:off x="243687" y="1463040"/>
          <a:ext cx="11704320" cy="4937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60520">
                  <a:extLst>
                    <a:ext uri="{9D8B030D-6E8A-4147-A177-3AD203B41FA5}">
                      <a16:colId xmlns:a16="http://schemas.microsoft.com/office/drawing/2014/main" val="4017016701"/>
                    </a:ext>
                  </a:extLst>
                </a:gridCol>
                <a:gridCol w="3703320">
                  <a:extLst>
                    <a:ext uri="{9D8B030D-6E8A-4147-A177-3AD203B41FA5}">
                      <a16:colId xmlns:a16="http://schemas.microsoft.com/office/drawing/2014/main" val="3911789132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755298141"/>
                    </a:ext>
                  </a:extLst>
                </a:gridCol>
              </a:tblGrid>
              <a:tr h="141732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Research Paper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Method / Focus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Relevance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2212463"/>
                  </a:ext>
                </a:extLst>
              </a:tr>
              <a:tr h="141732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Niculescu-Mizil &amp; Caruana, “Predicting Good Probabilities with Supervised Learning”, ICML, 2005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Platt scaling versus isotonic regression across classifier families; reliability diagrams.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Boosted trees are over-confident, so our classifier is wrapped in isotonic calibration before its score is published.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8862709"/>
                  </a:ext>
                </a:extLst>
              </a:tr>
              <a:tr h="141732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Davis &amp; Goadrich, “The Relationship Between Precision-Recall and ROC Curves”, ICML, 2006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Formal relation between the two curve families under class skew.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Why we report PR-AUC and recall at a fixed false-positive budget rather than accuracy at a 1% base rate.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8862709"/>
                  </a:ext>
                </a:extLst>
              </a:tr>
              <a:tr h="141732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Saito &amp; Rehmsmeier, PLOS ONE, vol. 10, no. 3, 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Empirical comparison of evaluation metrics under extreme class imbalance.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Supports our operating point: recall measured inside a 1% false-positive budget, chosen on validation.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88627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0121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9207B-9433-57B4-BC40-2B026B021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2828C8-BAE0-EADD-682A-B2396A0A4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208B-8553-4B8F-9A3D-7198B9689A71}" type="slidenum">
              <a:rPr lang="en-IN" smtClean="0"/>
              <a:t>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5E11FC-2000-1283-0D08-9B68FE4D2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cs typeface="Times New Roman" panose="02020603050405020304" pitchFamily="18" charset="0"/>
              </a:rPr>
              <a:t>Department of Information Technology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05DD80-885D-C908-2C12-7003FECE60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84" y="83465"/>
            <a:ext cx="1160585" cy="116058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172C1B3C-B0D9-2313-214A-1D87A8821737}"/>
              </a:ext>
            </a:extLst>
          </p:cNvPr>
          <p:cNvSpPr txBox="1">
            <a:spLocks/>
          </p:cNvSpPr>
          <p:nvPr/>
        </p:nvSpPr>
        <p:spPr>
          <a:xfrm>
            <a:off x="1430977" y="365767"/>
            <a:ext cx="10667239" cy="59598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IN" sz="4000" b="1" dirty="0">
                <a:latin typeface="+mn-lt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1ACCF6E-AD0C-C84A-06DB-184C70D027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3620774"/>
              </p:ext>
            </p:extLst>
          </p:nvPr>
        </p:nvGraphicFramePr>
        <p:xfrm>
          <a:off x="243687" y="1463040"/>
          <a:ext cx="11704320" cy="4937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60520">
                  <a:extLst>
                    <a:ext uri="{9D8B030D-6E8A-4147-A177-3AD203B41FA5}">
                      <a16:colId xmlns:a16="http://schemas.microsoft.com/office/drawing/2014/main" val="4017016701"/>
                    </a:ext>
                  </a:extLst>
                </a:gridCol>
                <a:gridCol w="3703320">
                  <a:extLst>
                    <a:ext uri="{9D8B030D-6E8A-4147-A177-3AD203B41FA5}">
                      <a16:colId xmlns:a16="http://schemas.microsoft.com/office/drawing/2014/main" val="3911789132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755298141"/>
                    </a:ext>
                  </a:extLst>
                </a:gridCol>
              </a:tblGrid>
              <a:tr h="141732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Research Paper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Method / Focus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Relevance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2212463"/>
                  </a:ext>
                </a:extLst>
              </a:tr>
              <a:tr h="141732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Lundberg &amp; Lee, “A Unified Approach to Interpreting Model Predictions (SHAP)”, NeurIPS, 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Additive feature attribution with Shapley values against a background distribution.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Used for per-payment explanation; the background is sampled from training traffic, not from noise.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8862709"/>
                  </a:ext>
                </a:extLst>
              </a:tr>
              <a:tr h="141732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Toh, “Combating Authorized Push Payment Scams in Fast Payment Systems”, Federal Reserve Bank of Kansas City,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Policy review of APP scams across fast-payment rails: confirmation of payee, payment friction.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Establishes that counterparty signals and pre-payment friction are the effective levers - the premise of this project.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8862709"/>
                  </a:ext>
                </a:extLst>
              </a:tr>
              <a:tr h="141732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“Detection of Mule Accounts and Fraudsters in UPI Transactions using AI and ML”, IRE Journals,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Supervised classification over transaction attributes to flag mule accounts in UPI-style logs.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Post-hoc and ledger-wide. We read the same inflow shape from contributed data, before the payment, and say so when we cannot.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88627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0121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DFB70-C96C-3A80-222F-1AD0E40D3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82F995-67B5-E95B-4C80-2EC4DDE43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208B-8553-4B8F-9A3D-7198B9689A71}" type="slidenum">
              <a:rPr lang="en-IN" smtClean="0"/>
              <a:t>7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78C4D9-B72C-3177-0A93-370DAAA8E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cs typeface="Times New Roman" panose="02020603050405020304" pitchFamily="18" charset="0"/>
              </a:rPr>
              <a:t>Department of Information Technology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1EE4E7-1E81-12E8-B0F3-D112C6DE0F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84" y="83465"/>
            <a:ext cx="1160585" cy="116058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8AC0921-01E9-58B1-2594-0B4D9FBB1FDF}"/>
              </a:ext>
            </a:extLst>
          </p:cNvPr>
          <p:cNvSpPr txBox="1">
            <a:spLocks/>
          </p:cNvSpPr>
          <p:nvPr/>
        </p:nvSpPr>
        <p:spPr>
          <a:xfrm>
            <a:off x="1430977" y="348833"/>
            <a:ext cx="10667239" cy="59598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IN" sz="4000" b="1" dirty="0">
                <a:latin typeface="+mn-lt"/>
                <a:cs typeface="Times New Roman" panose="02020603050405020304" pitchFamily="18" charset="0"/>
              </a:rPr>
              <a:t>RESEARCH GAPS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6D6937-D9F9-9FE2-ED23-747848A012AA}"/>
              </a:ext>
            </a:extLst>
          </p:cNvPr>
          <p:cNvSpPr txBox="1"/>
          <p:nvPr/>
        </p:nvSpPr>
        <p:spPr>
          <a:xfrm>
            <a:off x="1263070" y="1527877"/>
            <a:ext cx="9780982" cy="484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US" sz="1800" b="1" dirty="0"/>
              <a:t>Detection happens after settlement</a:t>
            </a:r>
          </a:p>
          <a:p>
            <a:pPr lvl="1" algn="just"/>
            <a:r>
              <a:rPr lang="en-US" sz="1800" dirty="0"/>
              <a:t>Almost all reviewed work scores a stored transaction record; on an irrevocable rail that describes a completed loss.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800" b="1" dirty="0"/>
              <a:t>Payer-only modelling cannot see authorised fraud</a:t>
            </a:r>
          </a:p>
          <a:p>
            <a:pPr lvl="1" algn="just"/>
            <a:r>
              <a:rPr lang="en-US" sz="1800" dirty="0"/>
              <a:t>In a social-engineering payment there is no deviation from the payer's norm to describe.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800" b="1" dirty="0"/>
              <a:t>Missing information is replaced by favourable defaults</a:t>
            </a:r>
          </a:p>
          <a:p>
            <a:pPr lvl="1" algn="just"/>
            <a:r>
              <a:rPr lang="en-US" sz="1800" dirty="0"/>
              <a:t>Imputing an unknown payee as “moderately established” makes a mule account - which has no history by definition - look safe.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800" b="1" dirty="0"/>
              <a:t>One number conflates risk with certainty</a:t>
            </a:r>
          </a:p>
          <a:p>
            <a:pPr lvl="1" algn="just"/>
            <a:r>
              <a:rPr lang="en-US" sz="1800" dirty="0"/>
              <a:t>A single percentage cannot separate a well-supported all-clear from an assessment that could not be made.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800" b="1" dirty="0"/>
              <a:t>Correlated evidence is counted as independent agreement</a:t>
            </a:r>
          </a:p>
          <a:p>
            <a:pPr lvl="1" algn="just"/>
            <a:r>
              <a:rPr lang="en-US" sz="1800" dirty="0"/>
              <a:t>Two modules applying the same night-hour test to the same timestamp are one observation, not two.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800" b="1" dirty="0"/>
              <a:t>Graph analytics are batch, and claims exceed available data</a:t>
            </a:r>
          </a:p>
          <a:p>
            <a:pPr lvl="1" algn="just"/>
            <a:r>
              <a:rPr lang="en-US" sz="1800" dirty="0"/>
              <a:t>Dense-block and GNN methods need the whole graph, and payer-side proposals often assume rail-level access.</a:t>
            </a:r>
          </a:p>
        </p:txBody>
      </p:sp>
    </p:spTree>
    <p:extLst>
      <p:ext uri="{BB962C8B-B14F-4D97-AF65-F5344CB8AC3E}">
        <p14:creationId xmlns:p14="http://schemas.microsoft.com/office/powerpoint/2010/main" val="12130931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FAC25-9A85-927F-D974-FF2B5F80C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ABD82E-287B-5597-4800-93828AD1C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208B-8553-4B8F-9A3D-7198B9689A71}" type="slidenum">
              <a:rPr lang="en-IN" smtClean="0"/>
              <a:t>8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0551D4-3B26-CE9C-39DA-5214F7FE1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cs typeface="Times New Roman" panose="02020603050405020304" pitchFamily="18" charset="0"/>
              </a:rPr>
              <a:t>Department of Information Technology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F279CD-9657-0FC2-21D2-E1E440F310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84" y="83465"/>
            <a:ext cx="1160585" cy="116058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5F503CC-E1E5-ACD9-1663-C4D5447811A6}"/>
              </a:ext>
            </a:extLst>
          </p:cNvPr>
          <p:cNvSpPr txBox="1">
            <a:spLocks/>
          </p:cNvSpPr>
          <p:nvPr/>
        </p:nvSpPr>
        <p:spPr>
          <a:xfrm>
            <a:off x="1430977" y="348833"/>
            <a:ext cx="10667239" cy="59598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IN" sz="4000" b="1" dirty="0">
                <a:latin typeface="+mn-lt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56EAB9-A6AB-F458-1E54-32F0D4BAAC05}"/>
              </a:ext>
            </a:extLst>
          </p:cNvPr>
          <p:cNvSpPr txBox="1"/>
          <p:nvPr/>
        </p:nvSpPr>
        <p:spPr>
          <a:xfrm>
            <a:off x="1263070" y="1527877"/>
            <a:ext cx="9780982" cy="484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US" sz="1800" b="1" dirty="0"/>
              <a:t>Assess a payee address before any money moves, from a QR code, a UPI ID or a phone number.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800" b="1" dirty="0"/>
              <a:t>Model knowledge explicitly: UNKNOWN, OBSERVED, REGISTERED and VERIFIED, with verification only from a provider.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800" b="1" dirty="0"/>
              <a:t>Score ten independent evidence families and merge them with a damped-maximum rule plus fact-aware corroboration.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800" b="1" dirty="0"/>
              <a:t>Preserve availability end to end - NaN for unmeasurable, zero for measured-as-none, null on the wire.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800" b="1" dirty="0"/>
              <a:t>Publish risk and confidence separately, and one verdict vocabulary from one mapping.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800" b="1" dirty="0"/>
              <a:t>Train a calibrated classifier on behaviour-derived labels; report PR-AUC, recall at a 1% FPR budget and per-scenario recall.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800" b="1" dirty="0"/>
              <a:t>Maintain graph intelligence incrementally so the real-time path never rebuilds a graph.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800" b="1" dirty="0"/>
              <a:t>Deliver as a web application and an Android build, with an assistant that explains but cannot decide.</a:t>
            </a:r>
          </a:p>
        </p:txBody>
      </p:sp>
    </p:spTree>
    <p:extLst>
      <p:ext uri="{BB962C8B-B14F-4D97-AF65-F5344CB8AC3E}">
        <p14:creationId xmlns:p14="http://schemas.microsoft.com/office/powerpoint/2010/main" val="26255153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03A7B-97E7-F5B6-3D68-F574FC5B0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E92D3B-A2C7-FFA2-EDEF-59F4127D9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208B-8553-4B8F-9A3D-7198B9689A71}" type="slidenum">
              <a:rPr lang="en-IN" smtClean="0"/>
              <a:t>9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C9D297-4885-BF2F-D45E-D1ECD85B1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cs typeface="Times New Roman" panose="02020603050405020304" pitchFamily="18" charset="0"/>
              </a:rPr>
              <a:t>Department of Information Technology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671B33-8641-A7C6-18C4-2E80C76D5F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84" y="83465"/>
            <a:ext cx="1160585" cy="116058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DF40550-4CC2-A8BD-61F6-9357A7FA64EA}"/>
              </a:ext>
            </a:extLst>
          </p:cNvPr>
          <p:cNvSpPr txBox="1">
            <a:spLocks/>
          </p:cNvSpPr>
          <p:nvPr/>
        </p:nvSpPr>
        <p:spPr>
          <a:xfrm>
            <a:off x="1430977" y="348833"/>
            <a:ext cx="10667239" cy="59598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IN" sz="4000" b="1" dirty="0">
                <a:latin typeface="+mn-lt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1E0FF4-3535-AAEC-4D51-DB5BD93064A0}"/>
              </a:ext>
            </a:extLst>
          </p:cNvPr>
          <p:cNvSpPr txBox="1"/>
          <p:nvPr/>
        </p:nvSpPr>
        <p:spPr>
          <a:xfrm>
            <a:off x="1263070" y="1527877"/>
            <a:ext cx="9780982" cy="484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US" sz="1800" b="1" dirty="0"/>
              <a:t>Entity status - what the system is allowed to claim</a:t>
            </a:r>
          </a:p>
          <a:p>
            <a:pPr lvl="1" algn="just"/>
            <a:r>
              <a:rPr lang="en-US" sz="1800" dirty="0"/>
              <a:t>UNKNOWN: never observed, and reported as such. OBSERVED: seen in contributed data. REGISTERED: an account exists - which is not safety. VERIFIED: a provider confirmed it exists.</a:t>
            </a:r>
          </a:p>
          <a:p>
            <a:pPr lvl="1" algn="just"/>
            <a:r>
              <a:rPr lang="en-US" sz="1800" dirty="0"/>
              <a:t>A payee with fewer than five distinct payers has no readable shape: a repeat ratio over two payers is arithmetic, not measurement.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800" b="1" dirty="0"/>
              <a:t>Ten independent evidence families</a:t>
            </a:r>
          </a:p>
          <a:p>
            <a:pPr lvl="1" algn="just"/>
            <a:r>
              <a:rPr lang="en-US" sz="1800" dirty="0"/>
              <a:t>payee_history (24), relationship (18), payer_behaviour (16), ml_classifier (12), address_and_qr (11), graph (8), amount_context (5), message_pressure (3), link_safety (2), stated_intent (1).</a:t>
            </a:r>
          </a:p>
          <a:p>
            <a:pPr lvl="1" algn="just"/>
            <a:r>
              <a:rPr lang="en-US" sz="1800" dirty="0"/>
              <a:t>Each family returns a score, an availability flag, a severity, a message and the typed facts its score rests on. The weights are confidence weights: how much less would we know without this family.</a:t>
            </a:r>
          </a:p>
        </p:txBody>
      </p:sp>
    </p:spTree>
    <p:extLst>
      <p:ext uri="{BB962C8B-B14F-4D97-AF65-F5344CB8AC3E}">
        <p14:creationId xmlns:p14="http://schemas.microsoft.com/office/powerpoint/2010/main" val="34027136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2213D-D610-4C5C-E886-1480012DE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FB54E5-9DEA-F851-3246-A45184ACB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208B-8553-4B8F-9A3D-7198B9689A71}" type="slidenum">
              <a:rPr lang="en-IN" smtClean="0"/>
              <a:t>10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AFBEE6-09AD-8DBA-42FB-F6A196032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cs typeface="Times New Roman" panose="02020603050405020304" pitchFamily="18" charset="0"/>
              </a:rPr>
              <a:t>Department of Information Technology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881A91-3EB7-4DB0-1868-F3AD507F55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84" y="83465"/>
            <a:ext cx="1160585" cy="116058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82297D83-AF33-9C20-5418-D4D049D7675E}"/>
              </a:ext>
            </a:extLst>
          </p:cNvPr>
          <p:cNvSpPr txBox="1">
            <a:spLocks/>
          </p:cNvSpPr>
          <p:nvPr/>
        </p:nvSpPr>
        <p:spPr>
          <a:xfrm>
            <a:off x="1430977" y="348833"/>
            <a:ext cx="10667239" cy="59598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IN" sz="4000" b="1" dirty="0">
                <a:latin typeface="+mn-lt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3558BF-B44F-9622-B1AB-5441616E5A0A}"/>
              </a:ext>
            </a:extLst>
          </p:cNvPr>
          <p:cNvSpPr txBox="1"/>
          <p:nvPr/>
        </p:nvSpPr>
        <p:spPr>
          <a:xfrm>
            <a:off x="1263070" y="1527877"/>
            <a:ext cx="9780982" cy="4937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US" sz="1700" b="1" dirty="0"/>
              <a:t>Availability: zero and unknown are different inputs</a:t>
            </a:r>
          </a:p>
          <a:p>
            <a:pPr lvl="1" algn="just"/>
            <a:r>
              <a:rPr lang="en-US" sz="1700" dirty="0"/>
              <a:t>0.0 means we looked and the answer is none; NaN means we could not look. A companion feature states which case holds, and an unavailable family is refused a score at construction time.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700" b="1" dirty="0"/>
              <a:t>Combination - the strongest signal leads</a:t>
            </a:r>
          </a:p>
          <a:p>
            <a:pPr lvl="1" algn="just"/>
            <a:r>
              <a:rPr lang="en-US" sz="1700" dirty="0"/>
              <a:t>risk = ordered[0] + 0.4 x sum(rest), capped at 99. Addition saturates on any two moderate signals; a plain maximum throws corroboration away.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700" b="1" dirty="0"/>
              <a:t>Fact-aware corroboration</a:t>
            </a:r>
          </a:p>
          <a:p>
            <a:pPr lvl="1" algn="just"/>
            <a:r>
              <a:rPr lang="en-US" sz="1700" dirty="0"/>
              <a:t>bonus = AGREEMENT_BONUS[min(distinct facts, reporting families)], with {2:6, 3:14, 4:22, 5:28, 6:32}. Counting modules paid a bonus for reading one clock twice.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700" b="1" dirty="0"/>
              <a:t>One verdict mapping</a:t>
            </a:r>
          </a:p>
          <a:p>
            <a:pPr lvl="1" algn="just"/>
            <a:r>
              <a:rPr lang="en-US" sz="1700" dirty="0"/>
              <a:t>BLOCK at 70, STEP_UP at 45, WARN at 22, otherwise APPROVE - in one module. Hard-block findings override the arithmetic; the legacy LOW/MEDIUM/HIGH label is derived from the band so the two cannot disagree.</a:t>
            </a:r>
          </a:p>
        </p:txBody>
      </p:sp>
    </p:spTree>
    <p:extLst>
      <p:ext uri="{BB962C8B-B14F-4D97-AF65-F5344CB8AC3E}">
        <p14:creationId xmlns:p14="http://schemas.microsoft.com/office/powerpoint/2010/main" val="40065176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5DC9B-26F2-8A32-0A25-CDA0C123A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106A2-A731-3277-0BAC-5249F674B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208B-8553-4B8F-9A3D-7198B9689A71}" type="slidenum">
              <a:rPr lang="en-IN" smtClean="0"/>
              <a:t>11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4182F7-8F7B-5330-246E-7329C68C6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cs typeface="Times New Roman" panose="02020603050405020304" pitchFamily="18" charset="0"/>
              </a:rPr>
              <a:t>Department of Information Technology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191704-A5A1-DE64-038D-9F6EC4A0BE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84" y="83465"/>
            <a:ext cx="1160585" cy="116058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6C8BEAD4-A44C-06F5-E6B1-CE667561D861}"/>
              </a:ext>
            </a:extLst>
          </p:cNvPr>
          <p:cNvSpPr txBox="1">
            <a:spLocks/>
          </p:cNvSpPr>
          <p:nvPr/>
        </p:nvSpPr>
        <p:spPr>
          <a:xfrm>
            <a:off x="1430977" y="348833"/>
            <a:ext cx="10667239" cy="59598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IN" sz="4000" b="1" dirty="0">
                <a:latin typeface="+mn-lt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70C2F6-2B61-B7B6-4275-F85C74A17B72}"/>
              </a:ext>
            </a:extLst>
          </p:cNvPr>
          <p:cNvSpPr txBox="1"/>
          <p:nvPr/>
        </p:nvSpPr>
        <p:spPr>
          <a:xfrm>
            <a:off x="1263070" y="1527877"/>
            <a:ext cx="9780982" cy="502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US" sz="1600" b="1" dirty="0"/>
              <a:t>Dataset - labels from behaviour, not from a rule</a:t>
            </a:r>
          </a:p>
          <a:p>
            <a:pPr lvl="1" algn="just"/>
            <a:r>
              <a:rPr lang="en-US" sz="1600" dirty="0"/>
              <a:t>120,000 payments, 2,000 synthetic payers, 1.2% fraud across four scenarios: social engineering 50%, mule collection 22%, account takeover 20%, card testing 8%. Classes overlap deliberately - legitimate payments reach the Rs 1 lakh cap.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600" b="1" dirty="0"/>
              <a:t>Features and the observation mask</a:t>
            </a:r>
          </a:p>
          <a:p>
            <a:pPr lvl="1" algn="just"/>
            <a:r>
              <a:rPr lang="en-US" sz="1600" dirty="0"/>
              <a:t>Twelve features; payee history is hidden on 24.5% of rows with a probability that rises with payer count, so unavailability is a case the model has learned rather than a gap papered over.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600" b="1" dirty="0"/>
              <a:t>Model, calibration and operating point</a:t>
            </a:r>
          </a:p>
          <a:p>
            <a:pPr lvl="1" algn="just"/>
            <a:r>
              <a:rPr lang="en-US" sz="1600" dirty="0"/>
              <a:t>HistGradientBoosting (300 iterations, balanced) with isotonic calibration; 72k / 18k / 30k stratified split; the threshold that maximises recall inside a 1% false-positive budget is chosen on validation and measured once on test.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600" b="1" dirty="0"/>
              <a:t>Incremental graph intelligence</a:t>
            </a:r>
          </a:p>
          <a:p>
            <a:pPr lvl="1" algn="just"/>
            <a:r>
              <a:rPr lang="en-US" sz="1600" dirty="0"/>
              <a:t>A persisted union-find table and a per-payee cache are updated when a payment is confirmed; the read path answers a bounded two-hop overlap query with no writes and no rebuild.</a:t>
            </a:r>
          </a:p>
        </p:txBody>
      </p:sp>
    </p:spTree>
    <p:extLst>
      <p:ext uri="{BB962C8B-B14F-4D97-AF65-F5344CB8AC3E}">
        <p14:creationId xmlns:p14="http://schemas.microsoft.com/office/powerpoint/2010/main" val="33179786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B21A0-BC28-F4C3-03B0-55D63CB08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5901CE-0FA8-ED05-D739-B19115591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208B-8553-4B8F-9A3D-7198B9689A71}" type="slidenum">
              <a:rPr lang="en-IN" smtClean="0"/>
              <a:t>12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760614-1DB3-AAAA-A101-12D82E4E2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cs typeface="Times New Roman" panose="02020603050405020304" pitchFamily="18" charset="0"/>
              </a:rPr>
              <a:t>Department of Information Technology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EEAF75-2CEC-0840-6D4E-BB719FAD12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84" y="83465"/>
            <a:ext cx="1160585" cy="116058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065CCE06-5336-AB9B-1C3C-2908E6C86C2D}"/>
              </a:ext>
            </a:extLst>
          </p:cNvPr>
          <p:cNvSpPr txBox="1">
            <a:spLocks/>
          </p:cNvSpPr>
          <p:nvPr/>
        </p:nvSpPr>
        <p:spPr>
          <a:xfrm>
            <a:off x="1430977" y="348833"/>
            <a:ext cx="10667239" cy="59598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IN" sz="4000" b="1" dirty="0">
                <a:latin typeface="+mn-lt"/>
                <a:cs typeface="Times New Roman" panose="02020603050405020304" pitchFamily="18" charset="0"/>
              </a:rPr>
              <a:t>ARCHITECTURE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8506E9-07C0-7F97-2BE6-DEC5E59061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406" y="1096488"/>
            <a:ext cx="10151423" cy="5075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0020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9207B-9433-57B4-BC40-2B026B021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2828C8-BAE0-EADD-682A-B2396A0A4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208B-8553-4B8F-9A3D-7198B9689A71}" type="slidenum">
              <a:rPr lang="en-IN" smtClean="0"/>
              <a:t>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5E11FC-2000-1283-0D08-9B68FE4D2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cs typeface="Times New Roman" panose="02020603050405020304" pitchFamily="18" charset="0"/>
              </a:rPr>
              <a:t>Department of Information Technology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05DD80-885D-C908-2C12-7003FECE60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84" y="83465"/>
            <a:ext cx="1160585" cy="116058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172C1B3C-B0D9-2313-214A-1D87A8821737}"/>
              </a:ext>
            </a:extLst>
          </p:cNvPr>
          <p:cNvSpPr txBox="1">
            <a:spLocks/>
          </p:cNvSpPr>
          <p:nvPr/>
        </p:nvSpPr>
        <p:spPr>
          <a:xfrm>
            <a:off x="1430977" y="365767"/>
            <a:ext cx="10667239" cy="59598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IN" sz="4000" b="1" dirty="0">
                <a:latin typeface="+mn-lt"/>
                <a:cs typeface="Times New Roman" panose="02020603050405020304" pitchFamily="18" charset="0"/>
              </a:rPr>
              <a:t>RESULTS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1ACCF6E-AD0C-C84A-06DB-184C70D027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3620774"/>
              </p:ext>
            </p:extLst>
          </p:nvPr>
        </p:nvGraphicFramePr>
        <p:xfrm>
          <a:off x="792327" y="1600200"/>
          <a:ext cx="10607040" cy="3840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40170167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391178913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755298141"/>
                    </a:ext>
                  </a:extLst>
                </a:gridCol>
                <a:gridCol w="329184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Logistic 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Selected model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2212463"/>
                  </a:ext>
                </a:extLst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Reading</a:t>
                      </a:r>
                    </a:p>
                  </a:txBody>
                  <a:tcPr anchor="ctr"/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en-US" sz="1500" dirty="0"/>
                        <a:t>ROC-AUC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/>
                        <a:t>0.9410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/>
                        <a:t>0.9652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8862709"/>
                  </a:ext>
                </a:extLst>
                <a:tc>
                  <a:txBody>
                    <a:bodyPr/>
                    <a:lstStyle/>
                    <a:p>
                      <a:pPr algn="l"/>
                      <a:r>
                        <a:rPr lang="en-US" sz="1500" dirty="0"/>
                        <a:t>Optimistic at a 1% base rate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en-US" sz="1500" dirty="0"/>
                        <a:t>PR-AUC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/>
                        <a:t>0.3037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/>
                        <a:t>0.4860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8862709"/>
                  </a:ext>
                </a:extLst>
                <a:tc>
                  <a:txBody>
                    <a:bodyPr/>
                    <a:lstStyle/>
                    <a:p>
                      <a:pPr algn="l"/>
                      <a:r>
                        <a:rPr lang="en-US" sz="1500" dirty="0"/>
                        <a:t>The informative view under imbalance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en-US" sz="1500" dirty="0"/>
                        <a:t>Recall at 1% FPR budget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/>
                        <a:t>27.89%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/>
                        <a:t>49.30%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8862709"/>
                  </a:ext>
                </a:extLst>
                <a:tc>
                  <a:txBody>
                    <a:bodyPr/>
                    <a:lstStyle/>
                    <a:p>
                      <a:pPr algn="l"/>
                      <a:r>
                        <a:rPr lang="en-US" sz="1500" dirty="0"/>
                        <a:t>Fraud caught inside the budget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en-US" sz="1500" dirty="0"/>
                        <a:t>Realised FPR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/>
                        <a:t>0.97%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/>
                        <a:t>0.95%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8862709"/>
                  </a:ext>
                </a:extLst>
                <a:tc>
                  <a:txBody>
                    <a:bodyPr/>
                    <a:lstStyle/>
                    <a:p>
                      <a:pPr algn="l"/>
                      <a:r>
                        <a:rPr lang="en-US" sz="1500" dirty="0"/>
                        <a:t>Measured on the test split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en-US" sz="1500" dirty="0"/>
                        <a:t>Precision at that 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/>
                        <a:t>25.52%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/>
                        <a:t>38.38%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8862709"/>
                  </a:ext>
                </a:extLst>
                <a:tc>
                  <a:txBody>
                    <a:bodyPr/>
                    <a:lstStyle/>
                    <a:p>
                      <a:pPr algn="l"/>
                      <a:r>
                        <a:rPr lang="en-US" sz="1500" dirty="0"/>
                        <a:t>About two alerts per true positive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en-US" sz="1500" dirty="0"/>
                        <a:t>Brier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/>
                        <a:t>0.00942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/>
                        <a:t>0.00798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8862709"/>
                  </a:ext>
                </a:extLst>
                <a:tc>
                  <a:txBody>
                    <a:bodyPr/>
                    <a:lstStyle/>
                    <a:p>
                      <a:pPr algn="l"/>
                      <a:r>
                        <a:rPr lang="en-US" sz="1500" dirty="0"/>
                        <a:t>Base-rate reference is 0.01169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en-US" sz="1500" dirty="0"/>
                        <a:t>Brier skill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/>
                        <a:t>0.1944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/>
                        <a:t>0.3174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8862709"/>
                  </a:ext>
                </a:extLst>
                <a:tc>
                  <a:txBody>
                    <a:bodyPr/>
                    <a:lstStyle/>
                    <a:p>
                      <a:pPr algn="l"/>
                      <a:r>
                        <a:rPr lang="en-US" sz="1500" dirty="0"/>
                        <a:t>Calibration gain over that reference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01210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9207B-9433-57B4-BC40-2B026B021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2828C8-BAE0-EADD-682A-B2396A0A4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208B-8553-4B8F-9A3D-7198B9689A71}" type="slidenum">
              <a:rPr lang="en-IN" smtClean="0"/>
              <a:t>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5E11FC-2000-1283-0D08-9B68FE4D2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cs typeface="Times New Roman" panose="02020603050405020304" pitchFamily="18" charset="0"/>
              </a:rPr>
              <a:t>Department of Information Technology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05DD80-885D-C908-2C12-7003FECE60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84" y="83465"/>
            <a:ext cx="1160585" cy="116058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172C1B3C-B0D9-2313-214A-1D87A8821737}"/>
              </a:ext>
            </a:extLst>
          </p:cNvPr>
          <p:cNvSpPr txBox="1">
            <a:spLocks/>
          </p:cNvSpPr>
          <p:nvPr/>
        </p:nvSpPr>
        <p:spPr>
          <a:xfrm>
            <a:off x="1430977" y="365767"/>
            <a:ext cx="10667239" cy="59598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IN" sz="4000" b="1" dirty="0">
                <a:latin typeface="+mn-lt"/>
                <a:cs typeface="Times New Roman" panose="02020603050405020304" pitchFamily="18" charset="0"/>
              </a:rPr>
              <a:t>RESULTS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1ACCF6E-AD0C-C84A-06DB-184C70D027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3620774"/>
              </p:ext>
            </p:extLst>
          </p:nvPr>
        </p:nvGraphicFramePr>
        <p:xfrm>
          <a:off x="700887" y="1600200"/>
          <a:ext cx="10789920" cy="3931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06040">
                  <a:extLst>
                    <a:ext uri="{9D8B030D-6E8A-4147-A177-3AD203B41FA5}">
                      <a16:colId xmlns:a16="http://schemas.microsoft.com/office/drawing/2014/main" val="40170167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911789132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755298141"/>
                    </a:ext>
                  </a:extLst>
                </a:gridCol>
                <a:gridCol w="1874519"/>
                <a:gridCol w="3749039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/>
                        <a:t>Fraud scenario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/>
                        <a:t>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/>
                        <a:t>Baseline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2212463"/>
                  </a:ext>
                </a:extLst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/>
                        <a:t>Our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/>
                        <a:t>Character of the case</a:t>
                      </a:r>
                    </a:p>
                  </a:txBody>
                  <a:tcPr anchor="ctr"/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account_takeover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78.08%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8862709"/>
                  </a:ext>
                </a:extLst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94.52%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Burst to fresh payees, amount pushed up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card_testing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8862709"/>
                  </a:ext>
                </a:extLst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Tiny probe payments in quick succession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mule_collection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13.75%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8862709"/>
                  </a:ext>
                </a:extLst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63.75%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Young payee, many one-time payers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social_engineering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182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6.04%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8862709"/>
                  </a:ext>
                </a:extLst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19.23%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The payer authorises it - nothing about the payer is wrong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Payer features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PR-AUC 0.3175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8862709"/>
                  </a:ext>
                </a:extLst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SE recall 3.85%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Ablation: one half of the feature set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Payee features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PR-AUC 0.1495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8862709"/>
                  </a:ext>
                </a:extLst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SE recall 11.54%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Ablation: the other half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Both halves together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PR-AUC 0.4860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8862709"/>
                  </a:ext>
                </a:extLst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SE recall 19.23%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+7.7 points over the better half - the argument for the payee check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01210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9207B-9433-57B4-BC40-2B026B021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2828C8-BAE0-EADD-682A-B2396A0A4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208B-8553-4B8F-9A3D-7198B9689A71}" type="slidenum">
              <a:rPr lang="en-IN" smtClean="0"/>
              <a:t>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5E11FC-2000-1283-0D08-9B68FE4D2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cs typeface="Times New Roman" panose="02020603050405020304" pitchFamily="18" charset="0"/>
              </a:rPr>
              <a:t>Department of Information Technology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05DD80-885D-C908-2C12-7003FECE60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84" y="83465"/>
            <a:ext cx="1160585" cy="116058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172C1B3C-B0D9-2313-214A-1D87A8821737}"/>
              </a:ext>
            </a:extLst>
          </p:cNvPr>
          <p:cNvSpPr txBox="1">
            <a:spLocks/>
          </p:cNvSpPr>
          <p:nvPr/>
        </p:nvSpPr>
        <p:spPr>
          <a:xfrm>
            <a:off x="1430977" y="365767"/>
            <a:ext cx="10667239" cy="59598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IN" sz="4000" b="1" dirty="0">
                <a:latin typeface="+mn-lt"/>
                <a:cs typeface="Times New Roman" panose="02020603050405020304" pitchFamily="18" charset="0"/>
              </a:rPr>
              <a:t>RESULTS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1ACCF6E-AD0C-C84A-06DB-184C70D027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3620774"/>
              </p:ext>
            </p:extLst>
          </p:nvPr>
        </p:nvGraphicFramePr>
        <p:xfrm>
          <a:off x="700887" y="1481328"/>
          <a:ext cx="10789919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4017016701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391178913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755298141"/>
                    </a:ext>
                  </a:extLst>
                </a:gridCol>
                <a:gridCol w="960120"/>
                <a:gridCol w="731520"/>
                <a:gridCol w="1234440"/>
                <a:gridCol w="310896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Payment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Amount (Rs)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2212463"/>
                  </a:ext>
                </a:extLst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Model 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Risk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Verdict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What decided it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Canteen lunch / groceries / cab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90 - 640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8862709"/>
                  </a:ext>
                </a:extLst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0 - 12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APPROVE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Ordinary payments are cleared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Monthly 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18,500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8862709"/>
                  </a:ext>
                </a:extLst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APPROVE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83x this payer's median, still approved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Probe burst, 3rd of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8862709"/>
                  </a:ext>
                </a:extLst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0.024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APPROVE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Open item: the 3rd probe of a 21-minute run is not yet the burst the model was trained 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F2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Funnel account, 3rd of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4,500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8862709"/>
                  </a:ext>
                </a:extLst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0.325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Carried by the model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F3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Hijacked profile, 2nd of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92,400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8862709"/>
                  </a:ext>
                </a:extLst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0.007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Model below threshold - payee evidence decided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F4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Victim-authorised 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18,000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8862709"/>
                  </a:ext>
                </a:extLst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0.007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STEP_UP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Model below threshold - payee evidence decided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F5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Look-alike bank handle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47,500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8862709"/>
                  </a:ext>
                </a:extLst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0.220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Carried by the model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01210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DBF50-E13E-366B-B3E6-BD463C81F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518016-03C0-27F7-7C13-B45F27FF0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208B-8553-4B8F-9A3D-7198B9689A71}" type="slidenum">
              <a:rPr lang="en-IN" smtClean="0"/>
              <a:t>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F7DF20-5255-01F5-42C1-3C058DBA1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cs typeface="Times New Roman" panose="02020603050405020304" pitchFamily="18" charset="0"/>
              </a:rPr>
              <a:t>Department of Information Technology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793F36-CC9E-B936-5712-DA58F23B66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84" y="83465"/>
            <a:ext cx="1160585" cy="116058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481E610F-AB27-AF93-82B0-1A1C7B2E608B}"/>
              </a:ext>
            </a:extLst>
          </p:cNvPr>
          <p:cNvSpPr txBox="1">
            <a:spLocks/>
          </p:cNvSpPr>
          <p:nvPr/>
        </p:nvSpPr>
        <p:spPr>
          <a:xfrm>
            <a:off x="1430977" y="365767"/>
            <a:ext cx="10667239" cy="59598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IN" sz="4000" b="1" dirty="0">
                <a:latin typeface="+mn-lt"/>
                <a:cs typeface="Times New Roman" panose="02020603050405020304" pitchFamily="18" charset="0"/>
              </a:rPr>
              <a:t>CONCLUSION &amp; FUTURE SCOPE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4CBC1D-B355-A5E5-672F-ED2415821E32}"/>
              </a:ext>
            </a:extLst>
          </p:cNvPr>
          <p:cNvSpPr txBox="1"/>
          <p:nvPr/>
        </p:nvSpPr>
        <p:spPr>
          <a:xfrm>
            <a:off x="1263070" y="1502476"/>
            <a:ext cx="9780982" cy="502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/>
              <a:t>Conclusion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A pre-payment assessment is possible on the information a payer-side system can actually gather, and it stops payments a payer-behaviour model cannot see: F3 and F4 are stopped while the classifier scores them at 0.007.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Absence of evidence is never evidence of safety - risk and confidence are separate numbers, and an unavailable family carries no score anywhere in the system.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Measured, not asserted: PR-AUC 0.486, 49.3% recall at 0.95% FPR, 19.2% on victim-authorised fraud, and a Rs 5 probe payment that is still missed, reported rather than tuned away.</a:t>
            </a:r>
          </a:p>
          <a:p>
            <a:pPr algn="just"/>
            <a:r>
              <a:rPr lang="en-US" sz="1600" dirty="0"/>
              <a:t>Future scope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Replace the simulator with real labelled data - the twelve-column feature contract trains the pipeline unchanged.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Model the payee's inflow as a sequence; evaluate a graph neural network once the contributed graph is large enough.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Confirmation of payee through a provider, privacy-preserving reputation sharing between deployments, and on-device scoring for the Android build.</a:t>
            </a:r>
          </a:p>
        </p:txBody>
      </p:sp>
    </p:spTree>
    <p:extLst>
      <p:ext uri="{BB962C8B-B14F-4D97-AF65-F5344CB8AC3E}">
        <p14:creationId xmlns:p14="http://schemas.microsoft.com/office/powerpoint/2010/main" val="27809171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DBF50-E13E-366B-B3E6-BD463C81F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518016-03C0-27F7-7C13-B45F27FF0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208B-8553-4B8F-9A3D-7198B9689A71}" type="slidenum">
              <a:rPr lang="en-IN" smtClean="0"/>
              <a:t>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F7DF20-5255-01F5-42C1-3C058DBA1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cs typeface="Times New Roman" panose="02020603050405020304" pitchFamily="18" charset="0"/>
              </a:rPr>
              <a:t>Department of Information Technology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793F36-CC9E-B936-5712-DA58F23B66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84" y="83465"/>
            <a:ext cx="1160585" cy="116058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481E610F-AB27-AF93-82B0-1A1C7B2E608B}"/>
              </a:ext>
            </a:extLst>
          </p:cNvPr>
          <p:cNvSpPr txBox="1">
            <a:spLocks/>
          </p:cNvSpPr>
          <p:nvPr/>
        </p:nvSpPr>
        <p:spPr>
          <a:xfrm>
            <a:off x="1430977" y="365767"/>
            <a:ext cx="10667239" cy="59598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IN" sz="4000" b="1" dirty="0">
                <a:latin typeface="+mn-lt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4CBC1D-B355-A5E5-672F-ED2415821E32}"/>
              </a:ext>
            </a:extLst>
          </p:cNvPr>
          <p:cNvSpPr txBox="1"/>
          <p:nvPr/>
        </p:nvSpPr>
        <p:spPr>
          <a:xfrm>
            <a:off x="1263070" y="1502476"/>
            <a:ext cx="9780982" cy="502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US" sz="1500" b="1" dirty="0"/>
              <a:t>NPCI, UPI product statistics, 2026; UPI August 2026: 24.51 bn transactions, Rs 29.82 trn.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500" b="1" dirty="0"/>
              <a:t>NPCI, Revision in UPI transaction limits for person-to-merchant categories, effective 15 September 2025.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500" b="1" dirty="0"/>
              <a:t>Y. Z. Toh, “Combating authorized push payment scams in fast payment systems,” Federal Reserve Bank of Kansas City, 2024.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500" b="1" dirty="0"/>
              <a:t>E. A. Lopez-Rojas, A. Elmir and S. Axelsson, “PaySim: a financial mobile money simulator for fraud detection,” EMSS, 2016.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500" b="1" dirty="0"/>
              <a:t>M. Weber et al., “Anti-money laundering in bitcoin: graph convolutional networks for financial forensics,” KDD Workshop, 2019.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500" b="1" dirty="0"/>
              <a:t>B. Hooi et al., “FRAUDAR: bounding graph fraud in the face of camouflage,” ACM SIGKDD, 2016.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500" b="1" dirty="0"/>
              <a:t>G. Ke et al., “LightGBM: a highly efficient gradient boosting decision tree,” NeurIPS, 2017.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500" b="1" dirty="0"/>
              <a:t>A. Niculescu-Mizil and R. Caruana, “Predicting good probabilities with supervised learning,” ICML, 2005.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500" b="1" dirty="0"/>
              <a:t>T. Saito and M. Rehmsmeier, PLOS ONE, vol. 10, no. 3, 2015; J. Davis and M. Goadrich, ICML, 2006.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500" b="1" dirty="0"/>
              <a:t>S. M. Lundberg and S.-I. Lee, “A unified approach to interpreting model predictions,” NeurIPS, 2017.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500" b="1" dirty="0"/>
              <a:t>F. T. Liu, K. M. Ting and Z.-H. Zhou, “Isolation forest,” IEEE ICDM, 2008.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500" b="1" dirty="0"/>
              <a:t>Unicode Consortium, “Unicode security mechanisms,” Unicode Technical Standard #39.</a:t>
            </a:r>
          </a:p>
        </p:txBody>
      </p:sp>
    </p:spTree>
    <p:extLst>
      <p:ext uri="{BB962C8B-B14F-4D97-AF65-F5344CB8AC3E}">
        <p14:creationId xmlns:p14="http://schemas.microsoft.com/office/powerpoint/2010/main" val="2780917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828</TotalTime>
  <Words>1077</Words>
  <Application>Microsoft Office PowerPoint</Application>
  <PresentationFormat>Widescreen</PresentationFormat>
  <Paragraphs>148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Office Theme</vt:lpstr>
      <vt:lpstr>Uncertainty-Aware Time Budget Point-of-Interest Recommendation System using Real-Time Context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Title: </dc:title>
  <dc:creator>admin</dc:creator>
  <cp:lastModifiedBy>Aditya Satvik Annapantula</cp:lastModifiedBy>
  <cp:revision>27</cp:revision>
  <dcterms:created xsi:type="dcterms:W3CDTF">2026-09-16T06:15:38Z</dcterms:created>
  <dcterms:modified xsi:type="dcterms:W3CDTF">2026-09-18T08:34:36Z</dcterms:modified>
</cp:coreProperties>
</file>